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d116891e9a4acd" /><Relationship Type="http://schemas.openxmlformats.org/officeDocument/2006/relationships/extended-properties" Target="/docProps/app.xml" Id="Rd7736418a07247ad" /><Relationship Type="http://schemas.openxmlformats.org/officeDocument/2006/relationships/officeDocument" Target="/ppt/presentation.xml" Id="Rce3eaa70ea2c4679" /></Relationships>
</file>

<file path=ppt/presentation.xml><?xml version="1.0" encoding="utf-8"?>
<p:presentation xmlns:p="http://schemas.openxmlformats.org/presentationml/2006/main">
  <p:sldMasterIdLst>
    <p:sldMasterId xmlns:r="http://schemas.openxmlformats.org/officeDocument/2006/relationships" id="2147483648" r:id="Rbf64f788279c4430"/>
  </p:sldMasterIdLst>
  <p:notesMasterIdLst>
    <p:notesMasterId xmlns:r="http://schemas.openxmlformats.org/officeDocument/2006/relationships" r:id="R7d5bd685e5ca4685"/>
  </p:notesMasterIdLst>
  <p:sldIdLst>
    <p:sldId xmlns:r="http://schemas.openxmlformats.org/officeDocument/2006/relationships" id="256" r:id="R230ecf9c464e4518"/>
    <p:sldId xmlns:r="http://schemas.openxmlformats.org/officeDocument/2006/relationships" id="257" r:id="Re0290c6b8dae430d"/>
    <p:sldId xmlns:r="http://schemas.openxmlformats.org/officeDocument/2006/relationships" id="258" r:id="Ra0bd67cc1e3e44b5"/>
    <p:sldId xmlns:r="http://schemas.openxmlformats.org/officeDocument/2006/relationships" id="259" r:id="Raeaf5dc91a8a41d4"/>
    <p:sldId xmlns:r="http://schemas.openxmlformats.org/officeDocument/2006/relationships" id="260" r:id="R77e5571dda1c41c3"/>
    <p:sldId xmlns:r="http://schemas.openxmlformats.org/officeDocument/2006/relationships" id="261" r:id="R839bb2a1decb453a"/>
    <p:sldId xmlns:r="http://schemas.openxmlformats.org/officeDocument/2006/relationships" id="262" r:id="R3cb088a3d2f947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9e747d267d46ca" /><Relationship Type="http://schemas.openxmlformats.org/officeDocument/2006/relationships/slideMaster" Target="/ppt/slideMasters/slideMaster1.xml" Id="Rbf64f788279c4430" /><Relationship Type="http://schemas.openxmlformats.org/officeDocument/2006/relationships/notesMaster" Target="/ppt/notesMasters/notesMaster1.xml" Id="R7d5bd685e5ca4685" /><Relationship Type="http://schemas.openxmlformats.org/officeDocument/2006/relationships/presProps" Target="/ppt/presProps.xml" Id="R68a69bd68f414989" /><Relationship Type="http://schemas.openxmlformats.org/officeDocument/2006/relationships/tableStyles" Target="/ppt/tableStyles.xml" Id="R2eadcfa3a91b492a" /><Relationship Type="http://schemas.openxmlformats.org/officeDocument/2006/relationships/slide" Target="/ppt/slides/slide1.xml" Id="R230ecf9c464e4518" /><Relationship Type="http://schemas.openxmlformats.org/officeDocument/2006/relationships/slide" Target="/ppt/slides/slide2.xml" Id="Re0290c6b8dae430d" /><Relationship Type="http://schemas.openxmlformats.org/officeDocument/2006/relationships/slide" Target="/ppt/slides/slide3.xml" Id="Ra0bd67cc1e3e44b5" /><Relationship Type="http://schemas.openxmlformats.org/officeDocument/2006/relationships/slide" Target="/ppt/slides/slide4.xml" Id="Raeaf5dc91a8a41d4" /><Relationship Type="http://schemas.openxmlformats.org/officeDocument/2006/relationships/slide" Target="/ppt/slides/slide5.xml" Id="R77e5571dda1c41c3" /><Relationship Type="http://schemas.openxmlformats.org/officeDocument/2006/relationships/slide" Target="/ppt/slides/slide6.xml" Id="R839bb2a1decb453a" /><Relationship Type="http://schemas.openxmlformats.org/officeDocument/2006/relationships/slide" Target="/ppt/slides/slide7.xml" Id="R3cb088a3d2f947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1a520ccabd4f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5aaf2e4f2a4344" /><Relationship Type="http://schemas.openxmlformats.org/officeDocument/2006/relationships/notesMaster" Target="/ppt/notesMasters/notesMaster1.xml" Id="R4cc3e82fc0164d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8736bdae8d458d" /><Relationship Type="http://schemas.openxmlformats.org/officeDocument/2006/relationships/notesMaster" Target="/ppt/notesMasters/notesMaster1.xml" Id="Ra4b67830ef964c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b3b75d02ec4315" /><Relationship Type="http://schemas.openxmlformats.org/officeDocument/2006/relationships/notesMaster" Target="/ppt/notesMasters/notesMaster1.xml" Id="Rc761a6b2d01f4a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5f0becfe72455b" /><Relationship Type="http://schemas.openxmlformats.org/officeDocument/2006/relationships/notesMaster" Target="/ppt/notesMasters/notesMaster1.xml" Id="R01442bb3e5fe42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08f29eee754316" /><Relationship Type="http://schemas.openxmlformats.org/officeDocument/2006/relationships/notesMaster" Target="/ppt/notesMasters/notesMaster1.xml" Id="R31f67806e5c84f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ef8ebbaa204389" /><Relationship Type="http://schemas.openxmlformats.org/officeDocument/2006/relationships/notesMaster" Target="/ppt/notesMasters/notesMaster1.xml" Id="R5bf1af8f58ba45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e812049ec14b16" /><Relationship Type="http://schemas.openxmlformats.org/officeDocument/2006/relationships/notesMaster" Target="/ppt/notesMasters/notesMaster1.xml" Id="Rfa011ed9568b44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1: project proposal, design, and initial implementation. Project topic: LLVM Pass Transformation Analyzer.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docs/PRD.md, sections 1–3 and 8. LLVM IR means intermediate representation. The tool observes existing compiler passes rather than implementing a new compiler.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docs/PRD.md, sections 4–8. These are project objectives. The CLI and report outputs remain pending, as shown on the final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docs/PRD.md, .planning/phases/01-cli-transformation-pipeline/01-CONTEXT.md, iris_analyzer/parser.py, and iris_analyzer/compiler.py. The analyzer does not implement its own lexer, parser for C, or optimization passes. Its parser reads LLVM dump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iris_analyzer/compiler.py, iris_analyzer/parser.py, iris_analyzer/model.py, docs/IMPLEMENTATION_PLAN.md. Data flow: C source into Clang, pass dump into parser, snapshots into change filter, retained snapshots into a future report writer. Implemented modules: compiler, parser, and model. Reporting and command-line integration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iris_analyzer/compiler.py, parser.py, model.py, tests/test_compiler.py, and tests/test_parser.py. subprocess uses shell=False. Compiler diagnostics are bounded to 4,000 characters. No finished command-line application or report generation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python3 -m unittest discover -s tests -v, 21 tests passed on 2026-09-18. Sources: tests/test_parser.py and tests/test_compiler.py. Parser tests include immutable model contracts, whitespace normalization, empty input, banner variants, ordering, per-scope change filtering, and cap behavior. Compiler tests use mocks to check executable discovery, command construction, compiler output capture, errors, and timeout handling. A real end-to-end compiler demonstration and the CLI/report writer are still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2541ee201f4b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572e6762d74350" /><Relationship Type="http://schemas.openxmlformats.org/officeDocument/2006/relationships/slideLayout" Target="/ppt/slideLayouts/slideLayout1.xml" Id="Re28d53cb6b594c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8d53cb6b594c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a46a85620f4f72" /><Relationship Type="http://schemas.openxmlformats.org/officeDocument/2006/relationships/notesSlide" Target="/ppt/notesSlides/notesSlide1.xml" Id="R7079fd69dcf843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66ba8996004005" /><Relationship Type="http://schemas.openxmlformats.org/officeDocument/2006/relationships/notesSlide" Target="/ppt/notesSlides/notesSlide2.xml" Id="R8b320b12ac964e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04a1be39cb4963" /><Relationship Type="http://schemas.openxmlformats.org/officeDocument/2006/relationships/notesSlide" Target="/ppt/notesSlides/notesSlide3.xml" Id="R5a830e8042ac4d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254964a9ab4bca" /><Relationship Type="http://schemas.openxmlformats.org/officeDocument/2006/relationships/notesSlide" Target="/ppt/notesSlides/notesSlide4.xml" Id="Rc9b37da09bff45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f7486e435a4c11" /><Relationship Type="http://schemas.openxmlformats.org/officeDocument/2006/relationships/notesSlide" Target="/ppt/notesSlides/notesSlide5.xml" Id="Re92e98e427b04f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52ae0fd6c84fa2" /><Relationship Type="http://schemas.openxmlformats.org/officeDocument/2006/relationships/notesSlide" Target="/ppt/notesSlides/notesSlide6.xml" Id="R50141ca4bb964c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ec64d1fb0d40f8" /><Relationship Type="http://schemas.openxmlformats.org/officeDocument/2006/relationships/notesSlide" Target="/ppt/notesSlides/notesSlide7.xml" Id="R6844e54f6e06401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F70B674-12B3-42D2-8ADD-F89DFBF3ED56}"/>
              </a:ext>
            </a:extLst>
          </p:cNvPr>
          <p:cNvSpPr>
            <a:spLocks xmlns:a="http://schemas.openxmlformats.org/drawingml/2006/main" noGrp="1"/>
          </p:cNvSpPr>
          <p:nvPr/>
        </p:nvSpPr>
        <p:spPr>
          <a:xfrm xmlns:a="http://schemas.openxmlformats.org/drawingml/2006/main">
            <a:off x="1095375" y="2047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1">
                <a:solidFill>
                  <a:srgbClr val="000000"/>
                </a:solidFill>
                <a:latin typeface="Helvetica"/>
                <a:ea typeface="Helvetica"/>
                <a:cs typeface="Helvetica"/>
              </a:defRPr>
            </a:pPr>
            <a:r>
              <a:rPr sz="4800" b="1">
                <a:solidFill>
                  <a:srgbClr val="000000"/>
                </a:solidFill>
                <a:latin typeface="Helvetica"/>
                <a:ea typeface="Helvetica"/>
                <a:cs typeface="Helvetica"/>
              </a:rPr>
              <a:t>Compiler Lab Project</a:t>
            </a:r>
          </a:p>
        </p:txBody>
      </p:sp>
      <p:sp>
        <p:nvSpPr>
          <p:cNvPr id="2" name="">
            <a:extLst xmlns:a="http://schemas.openxmlformats.org/drawingml/2006/main">
              <a:ext uri="{FF2B5EF4-FFF2-40B4-BE49-F238E27FC236}">
                <a16:creationId xmlns:a16="http://schemas.microsoft.com/office/drawing/2014/main" id="{4A583F03-2CA3-42BC-95A6-E67A9E6A615F}"/>
              </a:ext>
            </a:extLst>
          </p:cNvPr>
          <p:cNvSpPr>
            <a:spLocks xmlns:a="http://schemas.openxmlformats.org/drawingml/2006/main" noGrp="1"/>
          </p:cNvSpPr>
          <p:nvPr/>
        </p:nvSpPr>
        <p:spPr>
          <a:xfrm xmlns:a="http://schemas.openxmlformats.org/drawingml/2006/main">
            <a:off x="1095375" y="34290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000000"/>
                </a:solidFill>
                <a:latin typeface="Helvetica"/>
                <a:ea typeface="Helvetica"/>
                <a:cs typeface="Helvetica"/>
              </a:defRPr>
            </a:pPr>
            <a:r>
              <a:rPr sz="2700" b="0">
                <a:solidFill>
                  <a:srgbClr val="000000"/>
                </a:solidFill>
                <a:latin typeface="Helvetica"/>
                <a:ea typeface="Helvetica"/>
                <a:cs typeface="Helvetica"/>
              </a:rPr>
              <a:t>Vian Mangal</a:t>
            </a:r>
          </a:p>
        </p:txBody>
      </p:sp>
      <p:sp>
        <p:nvSpPr>
          <p:cNvPr id="3" name="">
            <a:extLst xmlns:a="http://schemas.openxmlformats.org/drawingml/2006/main">
              <a:ext uri="{FF2B5EF4-FFF2-40B4-BE49-F238E27FC236}">
                <a16:creationId xmlns:a16="http://schemas.microsoft.com/office/drawing/2014/main" id="{9441BC8E-D428-4BD1-92B6-88157BD0B904}"/>
              </a:ext>
            </a:extLst>
          </p:cNvPr>
          <p:cNvSpPr>
            <a:spLocks xmlns:a="http://schemas.openxmlformats.org/drawingml/2006/main" noGrp="1"/>
          </p:cNvSpPr>
          <p:nvPr/>
        </p:nvSpPr>
        <p:spPr>
          <a:xfrm xmlns:a="http://schemas.openxmlformats.org/drawingml/2006/main">
            <a:off x="1095375" y="40957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000000"/>
                </a:solidFill>
                <a:latin typeface="Helvetica"/>
                <a:ea typeface="Helvetica"/>
                <a:cs typeface="Helvetica"/>
              </a:defRPr>
            </a:pPr>
            <a:r>
              <a:rPr sz="2700" b="0">
                <a:solidFill>
                  <a:srgbClr val="000000"/>
                </a:solidFill>
                <a:latin typeface="Helvetica"/>
                <a:ea typeface="Helvetica"/>
                <a:cs typeface="Helvetica"/>
              </a:rPr>
              <a:t>24BAI0134</a:t>
            </a:r>
          </a:p>
        </p:txBody>
      </p:sp>
    </p:spTree>
    <p:extLst>
      <p:ext uri="{BB962C8B-B14F-4D97-AF65-F5344CB8AC3E}">
        <p14:creationId xmlns:p14="http://schemas.microsoft.com/office/powerpoint/2010/main" val="1402831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C8C691-4189-423A-A3B3-DD929D284D02}"/>
              </a:ext>
            </a:extLst>
          </p:cNvPr>
          <p:cNvSpPr>
            <a:spLocks xmlns:a="http://schemas.openxmlformats.org/drawingml/2006/main" noGrp="1"/>
          </p:cNvSpPr>
          <p:nvPr/>
        </p:nvSpPr>
        <p:spPr>
          <a:xfrm xmlns:a="http://schemas.openxmlformats.org/drawingml/2006/main">
            <a:off x="857250" y="571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0000"/>
                </a:solidFill>
                <a:latin typeface="Helvetica"/>
                <a:ea typeface="Helvetica"/>
                <a:cs typeface="Helvetica"/>
              </a:defRPr>
            </a:pPr>
            <a:r>
              <a:rPr sz="3600" b="1">
                <a:solidFill>
                  <a:srgbClr val="000000"/>
                </a:solidFill>
                <a:latin typeface="Helvetica"/>
                <a:ea typeface="Helvetica"/>
                <a:cs typeface="Helvetica"/>
              </a:rPr>
              <a:t>Topic and Problem Statement</a:t>
            </a:r>
          </a:p>
        </p:txBody>
      </p:sp>
      <p:sp>
        <p:nvSpPr>
          <p:cNvPr id="2" name="">
            <a:extLst xmlns:a="http://schemas.openxmlformats.org/drawingml/2006/main">
              <a:ext uri="{FF2B5EF4-FFF2-40B4-BE49-F238E27FC236}">
                <a16:creationId xmlns:a16="http://schemas.microsoft.com/office/drawing/2014/main" id="{658BA6A7-062B-47E9-8C66-FD3E3DC09007}"/>
              </a:ext>
            </a:extLst>
          </p:cNvPr>
          <p:cNvSpPr>
            <a:spLocks xmlns:a="http://schemas.openxmlformats.org/drawingml/2006/main" noGrp="1"/>
          </p:cNvSpPr>
          <p:nvPr/>
        </p:nvSpPr>
        <p:spPr>
          <a:xfrm xmlns:a="http://schemas.openxmlformats.org/drawingml/2006/main">
            <a:off x="857250" y="17621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Topic: LLVM Pass Transformation Analyzer</a:t>
            </a:r>
          </a:p>
        </p:txBody>
      </p:sp>
      <p:sp>
        <p:nvSpPr>
          <p:cNvPr id="3" name="">
            <a:extLst xmlns:a="http://schemas.openxmlformats.org/drawingml/2006/main">
              <a:ext uri="{FF2B5EF4-FFF2-40B4-BE49-F238E27FC236}">
                <a16:creationId xmlns:a16="http://schemas.microsoft.com/office/drawing/2014/main" id="{045D622C-5223-49DA-9102-F7051D51023A}"/>
              </a:ext>
            </a:extLst>
          </p:cNvPr>
          <p:cNvSpPr>
            <a:spLocks xmlns:a="http://schemas.openxmlformats.org/drawingml/2006/main" noGrp="1"/>
          </p:cNvSpPr>
          <p:nvPr/>
        </p:nvSpPr>
        <p:spPr>
          <a:xfrm xmlns:a="http://schemas.openxmlformats.org/drawingml/2006/main">
            <a:off x="857250" y="3143250"/>
            <a:ext cx="1038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The compiler improves code in steps called optimization passes.
Its long log includes steps that leave the code unchanged.
This makes it hard to see which steps actually changed the code.</a:t>
            </a:r>
          </a:p>
        </p:txBody>
      </p:sp>
      <p:sp>
        <p:nvSpPr>
          <p:cNvPr id="4" name="">
            <a:extLst xmlns:a="http://schemas.openxmlformats.org/drawingml/2006/main">
              <a:ext uri="{FF2B5EF4-FFF2-40B4-BE49-F238E27FC236}">
                <a16:creationId xmlns:a16="http://schemas.microsoft.com/office/drawing/2014/main" id="{1AAB8A58-6AF7-4360-B03F-6EEE4AA1180A}"/>
              </a:ext>
            </a:extLst>
          </p:cNvPr>
          <p:cNvSpPr>
            <a:spLocks xmlns:a="http://schemas.openxmlformats.org/drawingml/2006/main" noGrp="1"/>
          </p:cNvSpPr>
          <p:nvPr/>
        </p:nvSpPr>
        <p:spPr>
          <a:xfrm xmlns:a="http://schemas.openxmlformats.org/drawingml/2006/main">
            <a:off x="857250" y="452437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Why this topic: A small local project using Clang.
No GPU, database, or AI model is required.</a:t>
            </a:r>
          </a:p>
        </p:txBody>
      </p:sp>
      <p:sp>
        <p:nvSpPr>
          <p:cNvPr id="5" name="">
            <a:extLst xmlns:a="http://schemas.openxmlformats.org/drawingml/2006/main">
              <a:ext uri="{FF2B5EF4-FFF2-40B4-BE49-F238E27FC236}">
                <a16:creationId xmlns:a16="http://schemas.microsoft.com/office/drawing/2014/main" id="{3D5B6390-B0EA-4D9A-B498-549A38EC7503}"/>
              </a:ext>
            </a:extLst>
          </p:cNvPr>
          <p:cNvSpPr>
            <a:spLocks xmlns:a="http://schemas.openxmlformats.org/drawingml/2006/main" noGrp="1"/>
          </p:cNvSpPr>
          <p:nvPr/>
        </p:nvSpPr>
        <p:spPr>
          <a:xfrm xmlns:a="http://schemas.openxmlformats.org/drawingml/2006/main">
            <a:off x="857250" y="49053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000000"/>
                </a:solidFill>
                <a:latin typeface="Helvetica"/>
                <a:ea typeface="Helvetica"/>
                <a:cs typeface="Helvetica"/>
              </a:defRPr>
            </a:pPr>
            <a:r>
              <a:rPr sz="2175" b="0">
                <a:solidFill>
                  <a:srgbClr val="000000"/>
                </a:solidFill>
                <a:latin typeface="Helvetica"/>
                <a:ea typeface="Helvetica"/>
                <a:cs typeface="Helvetica"/>
              </a:rPr>
              <a:t/>
            </a:r>
          </a:p>
        </p:txBody>
      </p:sp>
    </p:spTree>
    <p:extLst>
      <p:ext uri="{BB962C8B-B14F-4D97-AF65-F5344CB8AC3E}">
        <p14:creationId xmlns:p14="http://schemas.microsoft.com/office/powerpoint/2010/main" val="10719758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11FB76-D44E-4549-BBC9-95FAB4ADE73A}"/>
              </a:ext>
            </a:extLst>
          </p:cNvPr>
          <p:cNvSpPr>
            <a:spLocks xmlns:a="http://schemas.openxmlformats.org/drawingml/2006/main" noGrp="1"/>
          </p:cNvSpPr>
          <p:nvPr/>
        </p:nvSpPr>
        <p:spPr>
          <a:xfrm xmlns:a="http://schemas.openxmlformats.org/drawingml/2006/main">
            <a:off x="857250" y="571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0000"/>
                </a:solidFill>
                <a:latin typeface="Helvetica"/>
                <a:ea typeface="Helvetica"/>
                <a:cs typeface="Helvetica"/>
              </a:defRPr>
            </a:pPr>
            <a:r>
              <a:rPr sz="3600" b="1">
                <a:solidFill>
                  <a:srgbClr val="000000"/>
                </a:solidFill>
                <a:latin typeface="Helvetica"/>
                <a:ea typeface="Helvetica"/>
                <a:cs typeface="Helvetica"/>
              </a:rPr>
              <a:t>Objectives and Scope</a:t>
            </a:r>
          </a:p>
        </p:txBody>
      </p:sp>
      <p:sp>
        <p:nvSpPr>
          <p:cNvPr id="2" name="">
            <a:extLst xmlns:a="http://schemas.openxmlformats.org/drawingml/2006/main">
              <a:ext uri="{FF2B5EF4-FFF2-40B4-BE49-F238E27FC236}">
                <a16:creationId xmlns:a16="http://schemas.microsoft.com/office/drawing/2014/main" id="{64EF0C43-6E22-42CE-B118-C3A61990298D}"/>
              </a:ext>
            </a:extLst>
          </p:cNvPr>
          <p:cNvSpPr>
            <a:spLocks xmlns:a="http://schemas.openxmlformats.org/drawingml/2006/main" noGrp="1"/>
          </p:cNvSpPr>
          <p:nvPr/>
        </p:nvSpPr>
        <p:spPr>
          <a:xfrm xmlns:a="http://schemas.openxmlformats.org/drawingml/2006/main">
            <a:off x="857250" y="1762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Capture LLVM IR snapshots from a small C program
using the Clang optimization pipeline.</a:t>
            </a:r>
          </a:p>
        </p:txBody>
      </p:sp>
      <p:sp>
        <p:nvSpPr>
          <p:cNvPr id="3" name="">
            <a:extLst xmlns:a="http://schemas.openxmlformats.org/drawingml/2006/main">
              <a:ext uri="{FF2B5EF4-FFF2-40B4-BE49-F238E27FC236}">
                <a16:creationId xmlns:a16="http://schemas.microsoft.com/office/drawing/2014/main" id="{D15DE09F-C348-4B0C-B32D-3F8C99FE0151}"/>
              </a:ext>
            </a:extLst>
          </p:cNvPr>
          <p:cNvSpPr>
            <a:spLocks xmlns:a="http://schemas.openxmlformats.org/drawingml/2006/main" noGrp="1"/>
          </p:cNvSpPr>
          <p:nvPr/>
        </p:nvSpPr>
        <p:spPr>
          <a:xfrm xmlns:a="http://schemas.openxmlformats.org/drawingml/2006/main">
            <a:off x="857250" y="28098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Identify the pass name, scope, and execution order.
Keep snapshots that change the IR.</a:t>
            </a:r>
          </a:p>
        </p:txBody>
      </p:sp>
      <p:sp>
        <p:nvSpPr>
          <p:cNvPr id="4" name="">
            <a:extLst xmlns:a="http://schemas.openxmlformats.org/drawingml/2006/main">
              <a:ext uri="{FF2B5EF4-FFF2-40B4-BE49-F238E27FC236}">
                <a16:creationId xmlns:a16="http://schemas.microsoft.com/office/drawing/2014/main" id="{1C1D3A8E-FE9B-4757-ABC5-C9284A09D4A3}"/>
              </a:ext>
            </a:extLst>
          </p:cNvPr>
          <p:cNvSpPr>
            <a:spLocks xmlns:a="http://schemas.openxmlformats.org/drawingml/2006/main" noGrp="1"/>
          </p:cNvSpPr>
          <p:nvPr/>
        </p:nvSpPr>
        <p:spPr>
          <a:xfrm xmlns:a="http://schemas.openxmlformats.org/drawingml/2006/main">
            <a:off x="857250" y="3857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Planned output: A readable transformation timeline
with saved IR snapshots and a JSON manifest.</a:t>
            </a:r>
          </a:p>
        </p:txBody>
      </p:sp>
      <p:sp>
        <p:nvSpPr>
          <p:cNvPr id="5" name="">
            <a:extLst xmlns:a="http://schemas.openxmlformats.org/drawingml/2006/main">
              <a:ext uri="{FF2B5EF4-FFF2-40B4-BE49-F238E27FC236}">
                <a16:creationId xmlns:a16="http://schemas.microsoft.com/office/drawing/2014/main" id="{4F7E242A-CDCD-4B45-9177-D14705A97E54}"/>
              </a:ext>
            </a:extLst>
          </p:cNvPr>
          <p:cNvSpPr>
            <a:spLocks xmlns:a="http://schemas.openxmlformats.org/drawingml/2006/main" noGrp="1"/>
          </p:cNvSpPr>
          <p:nvPr/>
        </p:nvSpPr>
        <p:spPr>
          <a:xfrm xmlns:a="http://schemas.openxmlformats.org/drawingml/2006/main">
            <a:off x="857250" y="49053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Scope: Local analysis of small C files.
No program execution, GPU support, or public server.</a:t>
            </a:r>
          </a:p>
        </p:txBody>
      </p:sp>
    </p:spTree>
    <p:extLst>
      <p:ext uri="{BB962C8B-B14F-4D97-AF65-F5344CB8AC3E}">
        <p14:creationId xmlns:p14="http://schemas.microsoft.com/office/powerpoint/2010/main" val="15497975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C7F062-E1B9-400E-972A-1E06C4E5BB60}"/>
              </a:ext>
            </a:extLst>
          </p:cNvPr>
          <p:cNvSpPr>
            <a:spLocks xmlns:a="http://schemas.openxmlformats.org/drawingml/2006/main" noGrp="1"/>
          </p:cNvSpPr>
          <p:nvPr/>
        </p:nvSpPr>
        <p:spPr>
          <a:xfrm xmlns:a="http://schemas.openxmlformats.org/drawingml/2006/main">
            <a:off x="857250" y="571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0000"/>
                </a:solidFill>
                <a:latin typeface="Helvetica"/>
                <a:ea typeface="Helvetica"/>
                <a:cs typeface="Helvetica"/>
              </a:defRPr>
            </a:pPr>
            <a:r>
              <a:rPr sz="3600" b="1">
                <a:solidFill>
                  <a:srgbClr val="000000"/>
                </a:solidFill>
                <a:latin typeface="Helvetica"/>
                <a:ea typeface="Helvetica"/>
                <a:cs typeface="Helvetica"/>
              </a:rPr>
              <a:t>Background and Compiler Concepts</a:t>
            </a:r>
          </a:p>
        </p:txBody>
      </p:sp>
      <p:sp>
        <p:nvSpPr>
          <p:cNvPr id="2" name="">
            <a:extLst xmlns:a="http://schemas.openxmlformats.org/drawingml/2006/main">
              <a:ext uri="{FF2B5EF4-FFF2-40B4-BE49-F238E27FC236}">
                <a16:creationId xmlns:a16="http://schemas.microsoft.com/office/drawing/2014/main" id="{9DFF4F98-4885-4F5E-86CE-07AEA7AEE1C4}"/>
              </a:ext>
            </a:extLst>
          </p:cNvPr>
          <p:cNvSpPr>
            <a:spLocks xmlns:a="http://schemas.openxmlformats.org/drawingml/2006/main" noGrp="1"/>
          </p:cNvSpPr>
          <p:nvPr/>
        </p:nvSpPr>
        <p:spPr>
          <a:xfrm xmlns:a="http://schemas.openxmlformats.org/drawingml/2006/main">
            <a:off x="857250" y="1762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Background study: Clang can expose LLVM pass dumps.
The analyzer organizes these dumps into useful changes.</a:t>
            </a:r>
          </a:p>
        </p:txBody>
      </p:sp>
      <p:sp>
        <p:nvSpPr>
          <p:cNvPr id="3" name="">
            <a:extLst xmlns:a="http://schemas.openxmlformats.org/drawingml/2006/main">
              <a:ext uri="{FF2B5EF4-FFF2-40B4-BE49-F238E27FC236}">
                <a16:creationId xmlns:a16="http://schemas.microsoft.com/office/drawing/2014/main" id="{DF232BE4-02D3-47C9-B41A-CAFF55222601}"/>
              </a:ext>
            </a:extLst>
          </p:cNvPr>
          <p:cNvSpPr>
            <a:spLocks xmlns:a="http://schemas.openxmlformats.org/drawingml/2006/main" noGrp="1"/>
          </p:cNvSpPr>
          <p:nvPr/>
        </p:nvSpPr>
        <p:spPr>
          <a:xfrm xmlns:a="http://schemas.openxmlformats.org/drawingml/2006/main">
            <a:off x="857250" y="28098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Frontend: Clang handles lexical analysis, parsing,
and semantic checks for the input C program.</a:t>
            </a:r>
          </a:p>
        </p:txBody>
      </p:sp>
      <p:sp>
        <p:nvSpPr>
          <p:cNvPr id="4" name="">
            <a:extLst xmlns:a="http://schemas.openxmlformats.org/drawingml/2006/main">
              <a:ext uri="{FF2B5EF4-FFF2-40B4-BE49-F238E27FC236}">
                <a16:creationId xmlns:a16="http://schemas.microsoft.com/office/drawing/2014/main" id="{AE7EE875-D5D9-44C2-B169-86D8A26298E1}"/>
              </a:ext>
            </a:extLst>
          </p:cNvPr>
          <p:cNvSpPr>
            <a:spLocks xmlns:a="http://schemas.openxmlformats.org/drawingml/2006/main" noGrp="1"/>
          </p:cNvSpPr>
          <p:nvPr/>
        </p:nvSpPr>
        <p:spPr>
          <a:xfrm xmlns:a="http://schemas.openxmlformats.org/drawingml/2006/main">
            <a:off x="857250" y="3857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Intermediate representation: LLVM IR describes
program operations before final machine code.</a:t>
            </a:r>
          </a:p>
        </p:txBody>
      </p:sp>
      <p:sp>
        <p:nvSpPr>
          <p:cNvPr id="5" name="">
            <a:extLst xmlns:a="http://schemas.openxmlformats.org/drawingml/2006/main">
              <a:ext uri="{FF2B5EF4-FFF2-40B4-BE49-F238E27FC236}">
                <a16:creationId xmlns:a16="http://schemas.microsoft.com/office/drawing/2014/main" id="{3284DF72-B854-4BC1-87AF-FC5B491D3129}"/>
              </a:ext>
            </a:extLst>
          </p:cNvPr>
          <p:cNvSpPr>
            <a:spLocks xmlns:a="http://schemas.openxmlformats.org/drawingml/2006/main" noGrp="1"/>
          </p:cNvSpPr>
          <p:nvPr/>
        </p:nvSpPr>
        <p:spPr>
          <a:xfrm xmlns:a="http://schemas.openxmlformats.org/drawingml/2006/main">
            <a:off x="857250" y="49053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Optimization passes: Compare consecutive IR states
within the same function or module scope.</a:t>
            </a:r>
          </a:p>
        </p:txBody>
      </p:sp>
    </p:spTree>
    <p:extLst>
      <p:ext uri="{BB962C8B-B14F-4D97-AF65-F5344CB8AC3E}">
        <p14:creationId xmlns:p14="http://schemas.microsoft.com/office/powerpoint/2010/main" val="13653868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882C2E-2C22-4509-9C3D-5DB05CC85E11}"/>
              </a:ext>
            </a:extLst>
          </p:cNvPr>
          <p:cNvSpPr>
            <a:spLocks xmlns:a="http://schemas.openxmlformats.org/drawingml/2006/main" noGrp="1"/>
          </p:cNvSpPr>
          <p:nvPr/>
        </p:nvSpPr>
        <p:spPr>
          <a:xfrm xmlns:a="http://schemas.openxmlformats.org/drawingml/2006/main">
            <a:off x="857250" y="571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0000"/>
                </a:solidFill>
                <a:latin typeface="Helvetica"/>
                <a:ea typeface="Helvetica"/>
                <a:cs typeface="Helvetica"/>
              </a:defRPr>
            </a:pPr>
            <a:r>
              <a:rPr sz="3600" b="1">
                <a:solidFill>
                  <a:srgbClr val="000000"/>
                </a:solidFill>
                <a:latin typeface="Helvetica"/>
                <a:ea typeface="Helvetica"/>
                <a:cs typeface="Helvetica"/>
              </a:rPr>
              <a:t>System Design and Methodology</a:t>
            </a:r>
          </a:p>
        </p:txBody>
      </p:sp>
      <p:sp>
        <p:nvSpPr>
          <p:cNvPr id="2" name="">
            <a:extLst xmlns:a="http://schemas.openxmlformats.org/drawingml/2006/main">
              <a:ext uri="{FF2B5EF4-FFF2-40B4-BE49-F238E27FC236}">
                <a16:creationId xmlns:a16="http://schemas.microsoft.com/office/drawing/2014/main" id="{C703D41D-89E3-4D4E-A239-764D9877B900}"/>
              </a:ext>
            </a:extLst>
          </p:cNvPr>
          <p:cNvSpPr>
            <a:spLocks xmlns:a="http://schemas.openxmlformats.org/drawingml/2006/main" noGrp="1"/>
          </p:cNvSpPr>
          <p:nvPr/>
        </p:nvSpPr>
        <p:spPr>
          <a:xfrm xmlns:a="http://schemas.openxmlformats.org/drawingml/2006/main">
            <a:off x="857250" y="1762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Input and compiler capture
Resolve Clang and capture its optimization pass output.</a:t>
            </a:r>
          </a:p>
        </p:txBody>
      </p:sp>
      <p:sp>
        <p:nvSpPr>
          <p:cNvPr id="3" name="">
            <a:extLst xmlns:a="http://schemas.openxmlformats.org/drawingml/2006/main">
              <a:ext uri="{FF2B5EF4-FFF2-40B4-BE49-F238E27FC236}">
                <a16:creationId xmlns:a16="http://schemas.microsoft.com/office/drawing/2014/main" id="{F5A34A08-F9D6-4B1C-A1A6-E78371612BB0}"/>
              </a:ext>
            </a:extLst>
          </p:cNvPr>
          <p:cNvSpPr>
            <a:spLocks xmlns:a="http://schemas.openxmlformats.org/drawingml/2006/main" noGrp="1"/>
          </p:cNvSpPr>
          <p:nvPr/>
        </p:nvSpPr>
        <p:spPr>
          <a:xfrm xmlns:a="http://schemas.openxmlformats.org/drawingml/2006/main">
            <a:off x="857250" y="28098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Snapshot parser
Extract pass names, scopes, ordering, and IR text.</a:t>
            </a:r>
          </a:p>
        </p:txBody>
      </p:sp>
      <p:sp>
        <p:nvSpPr>
          <p:cNvPr id="4" name="">
            <a:extLst xmlns:a="http://schemas.openxmlformats.org/drawingml/2006/main">
              <a:ext uri="{FF2B5EF4-FFF2-40B4-BE49-F238E27FC236}">
                <a16:creationId xmlns:a16="http://schemas.microsoft.com/office/drawing/2014/main" id="{5DED0954-1BDE-488C-8B66-40DD64680A4B}"/>
              </a:ext>
            </a:extLst>
          </p:cNvPr>
          <p:cNvSpPr>
            <a:spLocks xmlns:a="http://schemas.openxmlformats.org/drawingml/2006/main" noGrp="1"/>
          </p:cNvSpPr>
          <p:nvPr/>
        </p:nvSpPr>
        <p:spPr>
          <a:xfrm xmlns:a="http://schemas.openxmlformats.org/drawingml/2006/main">
            <a:off x="857250" y="3857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Change filtering
Normalize formatting and compare snapshots per scope.</a:t>
            </a:r>
          </a:p>
        </p:txBody>
      </p:sp>
      <p:sp>
        <p:nvSpPr>
          <p:cNvPr id="5" name="">
            <a:extLst xmlns:a="http://schemas.openxmlformats.org/drawingml/2006/main">
              <a:ext uri="{FF2B5EF4-FFF2-40B4-BE49-F238E27FC236}">
                <a16:creationId xmlns:a16="http://schemas.microsoft.com/office/drawing/2014/main" id="{CA326796-6851-4D92-A7D1-F926AB5EC1A7}"/>
              </a:ext>
            </a:extLst>
          </p:cNvPr>
          <p:cNvSpPr>
            <a:spLocks xmlns:a="http://schemas.openxmlformats.org/drawingml/2006/main" noGrp="1"/>
          </p:cNvSpPr>
          <p:nvPr/>
        </p:nvSpPr>
        <p:spPr>
          <a:xfrm xmlns:a="http://schemas.openxmlformats.org/drawingml/2006/main">
            <a:off x="857250" y="49053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Reporting, planned
Write the retained timeline and snapshots to files.</a:t>
            </a:r>
          </a:p>
        </p:txBody>
      </p:sp>
    </p:spTree>
    <p:extLst>
      <p:ext uri="{BB962C8B-B14F-4D97-AF65-F5344CB8AC3E}">
        <p14:creationId xmlns:p14="http://schemas.microsoft.com/office/powerpoint/2010/main" val="13687290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466A19-15B6-4945-9CCD-7FD38A929ADB}"/>
              </a:ext>
            </a:extLst>
          </p:cNvPr>
          <p:cNvSpPr>
            <a:spLocks xmlns:a="http://schemas.openxmlformats.org/drawingml/2006/main" noGrp="1"/>
          </p:cNvSpPr>
          <p:nvPr/>
        </p:nvSpPr>
        <p:spPr>
          <a:xfrm xmlns:a="http://schemas.openxmlformats.org/drawingml/2006/main">
            <a:off x="857250" y="571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0000"/>
                </a:solidFill>
                <a:latin typeface="Helvetica"/>
                <a:ea typeface="Helvetica"/>
                <a:cs typeface="Helvetica"/>
              </a:defRPr>
            </a:pPr>
            <a:r>
              <a:rPr sz="3600" b="1">
                <a:solidFill>
                  <a:srgbClr val="000000"/>
                </a:solidFill>
                <a:latin typeface="Helvetica"/>
                <a:ea typeface="Helvetica"/>
                <a:cs typeface="Helvetica"/>
              </a:rPr>
              <a:t>Technology Stack and Initial Prototype</a:t>
            </a:r>
          </a:p>
        </p:txBody>
      </p:sp>
      <p:sp>
        <p:nvSpPr>
          <p:cNvPr id="2" name="">
            <a:extLst xmlns:a="http://schemas.openxmlformats.org/drawingml/2006/main">
              <a:ext uri="{FF2B5EF4-FFF2-40B4-BE49-F238E27FC236}">
                <a16:creationId xmlns:a16="http://schemas.microsoft.com/office/drawing/2014/main" id="{83A7E276-8575-48D5-AD92-909049317EF6}"/>
              </a:ext>
            </a:extLst>
          </p:cNvPr>
          <p:cNvSpPr>
            <a:spLocks xmlns:a="http://schemas.openxmlformats.org/drawingml/2006/main" noGrp="1"/>
          </p:cNvSpPr>
          <p:nvPr/>
        </p:nvSpPr>
        <p:spPr>
          <a:xfrm xmlns:a="http://schemas.openxmlformats.org/drawingml/2006/main">
            <a:off x="857250" y="1762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Python 3.10+ and its standard library
No external Python package is required for the analyzer.</a:t>
            </a:r>
          </a:p>
        </p:txBody>
      </p:sp>
      <p:sp>
        <p:nvSpPr>
          <p:cNvPr id="3" name="">
            <a:extLst xmlns:a="http://schemas.openxmlformats.org/drawingml/2006/main">
              <a:ext uri="{FF2B5EF4-FFF2-40B4-BE49-F238E27FC236}">
                <a16:creationId xmlns:a16="http://schemas.microsoft.com/office/drawing/2014/main" id="{94634194-3BCA-4F65-89C3-7E1DA9ACC9D0}"/>
              </a:ext>
            </a:extLst>
          </p:cNvPr>
          <p:cNvSpPr>
            <a:spLocks xmlns:a="http://schemas.openxmlformats.org/drawingml/2006/main" noGrp="1"/>
          </p:cNvSpPr>
          <p:nvPr/>
        </p:nvSpPr>
        <p:spPr>
          <a:xfrm xmlns:a="http://schemas.openxmlformats.org/drawingml/2006/main">
            <a:off x="857250" y="28098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Clang and LLVM
The compiler wrapper requests IR dumps at -O1.</a:t>
            </a:r>
          </a:p>
        </p:txBody>
      </p:sp>
      <p:sp>
        <p:nvSpPr>
          <p:cNvPr id="4" name="">
            <a:extLst xmlns:a="http://schemas.openxmlformats.org/drawingml/2006/main">
              <a:ext uri="{FF2B5EF4-FFF2-40B4-BE49-F238E27FC236}">
                <a16:creationId xmlns:a16="http://schemas.microsoft.com/office/drawing/2014/main" id="{238E5841-7594-4873-B473-11C8704A0E71}"/>
              </a:ext>
            </a:extLst>
          </p:cNvPr>
          <p:cNvSpPr>
            <a:spLocks xmlns:a="http://schemas.openxmlformats.org/drawingml/2006/main" noGrp="1"/>
          </p:cNvSpPr>
          <p:nvPr/>
        </p:nvSpPr>
        <p:spPr>
          <a:xfrm xmlns:a="http://schemas.openxmlformats.org/drawingml/2006/main">
            <a:off x="857250" y="3857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Working prototype: Compiler wrapper and IR parser.
It filters unchanged dumps and limits retained snapshots.</a:t>
            </a:r>
          </a:p>
        </p:txBody>
      </p:sp>
      <p:sp>
        <p:nvSpPr>
          <p:cNvPr id="5" name="">
            <a:extLst xmlns:a="http://schemas.openxmlformats.org/drawingml/2006/main">
              <a:ext uri="{FF2B5EF4-FFF2-40B4-BE49-F238E27FC236}">
                <a16:creationId xmlns:a16="http://schemas.microsoft.com/office/drawing/2014/main" id="{2A4A0F7F-9C84-400B-BCEB-C0E54C459823}"/>
              </a:ext>
            </a:extLst>
          </p:cNvPr>
          <p:cNvSpPr>
            <a:spLocks xmlns:a="http://schemas.openxmlformats.org/drawingml/2006/main" noGrp="1"/>
          </p:cNvSpPr>
          <p:nvPr/>
        </p:nvSpPr>
        <p:spPr>
          <a:xfrm xmlns:a="http://schemas.openxmlformats.org/drawingml/2006/main">
            <a:off x="857250" y="49053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Error handling: Missing compiler, launch failures,
compilation errors, and a 30-second timeout.</a:t>
            </a:r>
          </a:p>
        </p:txBody>
      </p:sp>
    </p:spTree>
    <p:extLst>
      <p:ext uri="{BB962C8B-B14F-4D97-AF65-F5344CB8AC3E}">
        <p14:creationId xmlns:p14="http://schemas.microsoft.com/office/powerpoint/2010/main" val="15219805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5921FC-4CE6-483B-AE2E-66DF1EC3C70C}"/>
              </a:ext>
            </a:extLst>
          </p:cNvPr>
          <p:cNvSpPr>
            <a:spLocks xmlns:a="http://schemas.openxmlformats.org/drawingml/2006/main" noGrp="1"/>
          </p:cNvSpPr>
          <p:nvPr/>
        </p:nvSpPr>
        <p:spPr>
          <a:xfrm xmlns:a="http://schemas.openxmlformats.org/drawingml/2006/main">
            <a:off x="857250" y="571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0000"/>
                </a:solidFill>
                <a:latin typeface="Helvetica"/>
                <a:ea typeface="Helvetica"/>
                <a:cs typeface="Helvetica"/>
              </a:defRPr>
            </a:pPr>
            <a:r>
              <a:rPr sz="3600" b="1">
                <a:solidFill>
                  <a:srgbClr val="000000"/>
                </a:solidFill>
                <a:latin typeface="Helvetica"/>
                <a:ea typeface="Helvetica"/>
                <a:cs typeface="Helvetica"/>
              </a:rPr>
              <a:t>Testing and Results</a:t>
            </a:r>
          </a:p>
        </p:txBody>
      </p:sp>
      <p:sp>
        <p:nvSpPr>
          <p:cNvPr id="2" name="">
            <a:extLst xmlns:a="http://schemas.openxmlformats.org/drawingml/2006/main">
              <a:ext uri="{FF2B5EF4-FFF2-40B4-BE49-F238E27FC236}">
                <a16:creationId xmlns:a16="http://schemas.microsoft.com/office/drawing/2014/main" id="{FF87F621-B19C-4E96-97FD-C0686169C42D}"/>
              </a:ext>
            </a:extLst>
          </p:cNvPr>
          <p:cNvSpPr>
            <a:spLocks xmlns:a="http://schemas.openxmlformats.org/drawingml/2006/main" noGrp="1"/>
          </p:cNvSpPr>
          <p:nvPr/>
        </p:nvSpPr>
        <p:spPr>
          <a:xfrm xmlns:a="http://schemas.openxmlformats.org/drawingml/2006/main">
            <a:off x="857250" y="1762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Parsing tests check pass names, order, and IR text.
They also check empty logs and different dump formats.</a:t>
            </a:r>
          </a:p>
        </p:txBody>
      </p:sp>
      <p:sp>
        <p:nvSpPr>
          <p:cNvPr id="3" name="">
            <a:extLst xmlns:a="http://schemas.openxmlformats.org/drawingml/2006/main">
              <a:ext uri="{FF2B5EF4-FFF2-40B4-BE49-F238E27FC236}">
                <a16:creationId xmlns:a16="http://schemas.microsoft.com/office/drawing/2014/main" id="{2EC2237B-279C-4C64-AD80-6A4AF2C270A3}"/>
              </a:ext>
            </a:extLst>
          </p:cNvPr>
          <p:cNvSpPr>
            <a:spLocks xmlns:a="http://schemas.openxmlformats.org/drawingml/2006/main" noGrp="1"/>
          </p:cNvSpPr>
          <p:nvPr/>
        </p:nvSpPr>
        <p:spPr>
          <a:xfrm xmlns:a="http://schemas.openxmlformats.org/drawingml/2006/main">
            <a:off x="857250" y="28098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Filtering tests check that unchanged IR is skipped.
They check separate scopes and snapshot limits.</a:t>
            </a:r>
          </a:p>
        </p:txBody>
      </p:sp>
      <p:sp>
        <p:nvSpPr>
          <p:cNvPr id="4" name="">
            <a:extLst xmlns:a="http://schemas.openxmlformats.org/drawingml/2006/main">
              <a:ext uri="{FF2B5EF4-FFF2-40B4-BE49-F238E27FC236}">
                <a16:creationId xmlns:a16="http://schemas.microsoft.com/office/drawing/2014/main" id="{07A1652A-EBD8-4FBB-84AE-8D747BB7DDC8}"/>
              </a:ext>
            </a:extLst>
          </p:cNvPr>
          <p:cNvSpPr>
            <a:spLocks xmlns:a="http://schemas.openxmlformats.org/drawingml/2006/main" noGrp="1"/>
          </p:cNvSpPr>
          <p:nvPr/>
        </p:nvSpPr>
        <p:spPr>
          <a:xfrm xmlns:a="http://schemas.openxmlformats.org/drawingml/2006/main">
            <a:off x="857250" y="3857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Compiler tests simulate Clang to check discovery,
safe commands, error handling, and timeouts.</a:t>
            </a:r>
          </a:p>
        </p:txBody>
      </p:sp>
      <p:sp>
        <p:nvSpPr>
          <p:cNvPr id="5" name="">
            <a:extLst xmlns:a="http://schemas.openxmlformats.org/drawingml/2006/main">
              <a:ext uri="{FF2B5EF4-FFF2-40B4-BE49-F238E27FC236}">
                <a16:creationId xmlns:a16="http://schemas.microsoft.com/office/drawing/2014/main" id="{3AF23132-0451-4AEB-A60B-A21DC8DF5067}"/>
              </a:ext>
            </a:extLst>
          </p:cNvPr>
          <p:cNvSpPr>
            <a:spLocks xmlns:a="http://schemas.openxmlformats.org/drawingml/2006/main" noGrp="1"/>
          </p:cNvSpPr>
          <p:nvPr/>
        </p:nvSpPr>
        <p:spPr>
          <a:xfrm xmlns:a="http://schemas.openxmlformats.org/drawingml/2006/main">
            <a:off x="857250" y="49053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0"/>
              </a:spcAft>
              <a:buChar char="•"/>
              <a:defRPr sz="2175">
                <a:solidFill>
                  <a:srgbClr val="000000"/>
                </a:solidFill>
                <a:latin typeface="Helvetica"/>
                <a:ea typeface="Helvetica"/>
                <a:cs typeface="Helvetica"/>
              </a:defRPr>
            </a:pPr>
            <a:r>
              <a:rPr sz="2175">
                <a:solidFill>
                  <a:srgbClr val="000000"/>
                </a:solidFill>
                <a:latin typeface="Helvetica"/>
                <a:ea typeface="Helvetica"/>
                <a:cs typeface="Helvetica"/>
              </a:rPr>
              <a:t>Results: All 21 unit tests passed. None failed.
The CLI, report files, and complete demo remain pending.</a:t>
            </a:r>
          </a:p>
        </p:txBody>
      </p:sp>
    </p:spTree>
    <p:extLst>
      <p:ext uri="{BB962C8B-B14F-4D97-AF65-F5344CB8AC3E}">
        <p14:creationId xmlns:p14="http://schemas.microsoft.com/office/powerpoint/2010/main" val="436055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2026-09-18T09:03:32.3550000Z</dcterms:created>
  <dcterms:modified xsi:type="dcterms:W3CDTF">2026-09-18T09:03:32.3550000Z</dcterms:modified>
</coreProperties>
</file>